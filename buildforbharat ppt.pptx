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5" r:id="rId11"/>
    <p:sldId id="266" r:id="rId12"/>
  </p:sldIdLst>
  <p:sldSz cx="18288000" cy="10287000"/>
  <p:notesSz cx="6858000" cy="9144000"/>
  <p:embeddedFontLst>
    <p:embeddedFont>
      <p:font typeface="Open Sauce" panose="020B0604020202020204" charset="0"/>
      <p:regular r:id="rId14"/>
    </p:embeddedFont>
    <p:embeddedFont>
      <p:font typeface="Open Sauce Bold" panose="020B0604020202020204" charset="0"/>
      <p:regular r:id="rId15"/>
    </p:embeddedFont>
    <p:embeddedFont>
      <p:font typeface="Open Sauce Medium" panose="020B0604020202020204" charset="0"/>
      <p:regular r:id="rId16"/>
    </p:embeddedFont>
    <p:embeddedFont>
      <p:font typeface="Open Sauce Semi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2" y="1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20F45-D228-4FD0-91DE-5EF08A0CD012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87EFE-1FCB-46CD-B07B-086E7BDF3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45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87EFE-1FCB-46CD-B07B-086E7BDF336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0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87EFE-1FCB-46CD-B07B-086E7BDF336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1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54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4800" y="273366"/>
            <a:ext cx="12306300" cy="3872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120"/>
              </a:lnSpc>
            </a:pPr>
            <a:r>
              <a:rPr lang="en-US" sz="14000" spc="-826" dirty="0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BUILD FOR BHARAT</a:t>
            </a:r>
          </a:p>
        </p:txBody>
      </p:sp>
      <p:sp>
        <p:nvSpPr>
          <p:cNvPr id="4" name="Freeform 4"/>
          <p:cNvSpPr/>
          <p:nvPr/>
        </p:nvSpPr>
        <p:spPr>
          <a:xfrm>
            <a:off x="5608035" y="-4316939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1028700" y="5001928"/>
            <a:ext cx="13616443" cy="2253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279"/>
              </a:lnSpc>
              <a:spcBef>
                <a:spcPct val="0"/>
              </a:spcBef>
            </a:pPr>
            <a:endParaRPr lang="en-US" sz="15999" b="1" u="none" strike="noStrike" spc="-943" dirty="0">
              <a:solidFill>
                <a:srgbClr val="185079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04800" y="5295900"/>
            <a:ext cx="10155052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TEAM- CODE5URGE</a:t>
            </a:r>
          </a:p>
          <a:p>
            <a:pPr algn="l">
              <a:lnSpc>
                <a:spcPts val="3564"/>
              </a:lnSpc>
            </a:pPr>
            <a:endParaRPr lang="en-US" sz="3300" b="1" spc="-118" dirty="0">
              <a:solidFill>
                <a:srgbClr val="18507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3564"/>
              </a:lnSpc>
            </a:pPr>
            <a:r>
              <a:rPr lang="en-US" sz="33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MEMBERS-</a:t>
            </a:r>
          </a:p>
          <a:p>
            <a:pPr marL="457200" indent="-457200" algn="l">
              <a:lnSpc>
                <a:spcPts val="3564"/>
              </a:lnSpc>
              <a:buFont typeface="Arial" panose="020B0604020202020204" pitchFamily="34" charset="0"/>
              <a:buChar char="•"/>
            </a:pPr>
            <a:r>
              <a:rPr lang="en-US" sz="33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SHAMAN SHARMA</a:t>
            </a:r>
          </a:p>
          <a:p>
            <a:pPr marL="457200" indent="-457200" algn="l">
              <a:lnSpc>
                <a:spcPts val="3564"/>
              </a:lnSpc>
              <a:buFont typeface="Arial" panose="020B0604020202020204" pitchFamily="34" charset="0"/>
              <a:buChar char="•"/>
            </a:pPr>
            <a:r>
              <a:rPr lang="en-US" sz="33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ANURAG PRAJAPATI</a:t>
            </a:r>
          </a:p>
          <a:p>
            <a:pPr marL="457200" indent="-457200" algn="l">
              <a:lnSpc>
                <a:spcPts val="3564"/>
              </a:lnSpc>
              <a:buFont typeface="Arial" panose="020B0604020202020204" pitchFamily="34" charset="0"/>
              <a:buChar char="•"/>
            </a:pPr>
            <a:r>
              <a:rPr lang="en-US" sz="33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AMRITA RAMAN</a:t>
            </a:r>
          </a:p>
          <a:p>
            <a:pPr marL="457200" indent="-457200" algn="l">
              <a:lnSpc>
                <a:spcPts val="3564"/>
              </a:lnSpc>
              <a:buFont typeface="Arial" panose="020B0604020202020204" pitchFamily="34" charset="0"/>
              <a:buChar char="•"/>
            </a:pPr>
            <a:r>
              <a:rPr lang="en-US" sz="3300" b="1" spc="-118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RHYDHAM MITTAL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-7086600" y="4991100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85800" y="638088"/>
            <a:ext cx="7696200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550"/>
              </a:lnSpc>
              <a:spcBef>
                <a:spcPct val="0"/>
              </a:spcBef>
            </a:pP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INTRODUCTION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95CD49-9B06-E123-316E-0CC443E6D9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482" y="5580649"/>
            <a:ext cx="5742225" cy="320496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3426D49-2E68-2226-C3CE-9A83B96650FC}"/>
              </a:ext>
            </a:extLst>
          </p:cNvPr>
          <p:cNvGrpSpPr/>
          <p:nvPr/>
        </p:nvGrpSpPr>
        <p:grpSpPr>
          <a:xfrm>
            <a:off x="663388" y="3191434"/>
            <a:ext cx="5737412" cy="2561665"/>
            <a:chOff x="663388" y="3191434"/>
            <a:chExt cx="5737412" cy="2561665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7241203-CEA0-8D24-8239-EFD2FBB80D9B}"/>
                </a:ext>
              </a:extLst>
            </p:cNvPr>
            <p:cNvSpPr/>
            <p:nvPr/>
          </p:nvSpPr>
          <p:spPr>
            <a:xfrm>
              <a:off x="663388" y="3191434"/>
              <a:ext cx="5737412" cy="2561665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34B100-9890-B2F2-94FD-210965E3485A}"/>
                </a:ext>
              </a:extLst>
            </p:cNvPr>
            <p:cNvSpPr txBox="1"/>
            <p:nvPr/>
          </p:nvSpPr>
          <p:spPr>
            <a:xfrm>
              <a:off x="871272" y="3432874"/>
              <a:ext cx="5451632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latin typeface="Open Sauce" panose="020B0604020202020204" charset="0"/>
                </a:rPr>
                <a:t>The Problem</a:t>
              </a:r>
              <a:br>
                <a:rPr lang="en-IN" sz="2000" dirty="0">
                  <a:latin typeface="Open Sauce" panose="020B0604020202020204" charset="0"/>
                </a:rPr>
              </a:br>
              <a:r>
                <a:rPr lang="en-IN" sz="2000" dirty="0">
                  <a:latin typeface="Open Sauce" panose="020B0604020202020204" charset="0"/>
                </a:rPr>
                <a:t>Labour-market demand is changing rapidly, but institutions still struggle to decide </a:t>
              </a:r>
              <a:r>
                <a:rPr lang="en-IN" sz="2000" b="1" dirty="0">
                  <a:latin typeface="Open Sauce" panose="020B0604020202020204" charset="0"/>
                </a:rPr>
                <a:t>which skills to teach, which programs to fund, and where to allocate limited training capacity.</a:t>
              </a:r>
            </a:p>
            <a:p>
              <a:endParaRPr lang="en-IN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1C9B7B5-B78C-D760-886D-66B5CDA4C2DE}"/>
              </a:ext>
            </a:extLst>
          </p:cNvPr>
          <p:cNvGrpSpPr/>
          <p:nvPr/>
        </p:nvGrpSpPr>
        <p:grpSpPr>
          <a:xfrm>
            <a:off x="663388" y="6539860"/>
            <a:ext cx="5737412" cy="2561665"/>
            <a:chOff x="663388" y="6539860"/>
            <a:chExt cx="5737412" cy="2561665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676E589-5E44-0ED9-4715-9841C2D61BC5}"/>
                </a:ext>
              </a:extLst>
            </p:cNvPr>
            <p:cNvSpPr/>
            <p:nvPr/>
          </p:nvSpPr>
          <p:spPr>
            <a:xfrm>
              <a:off x="663388" y="6539860"/>
              <a:ext cx="5737412" cy="2561665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79D13CE-1ED2-3244-695D-452A05956613}"/>
                </a:ext>
              </a:extLst>
            </p:cNvPr>
            <p:cNvSpPr txBox="1"/>
            <p:nvPr/>
          </p:nvSpPr>
          <p:spPr>
            <a:xfrm>
              <a:off x="930088" y="6728542"/>
              <a:ext cx="533400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latin typeface="Open Sauce" panose="020B0604020202020204" charset="0"/>
                </a:rPr>
                <a:t>What D2S Bharat Does</a:t>
              </a:r>
            </a:p>
            <a:p>
              <a:endParaRPr lang="en-IN" sz="2000" b="1" dirty="0">
                <a:latin typeface="Open Sauce" panose="020B0604020202020204" charset="0"/>
              </a:endParaRPr>
            </a:p>
            <a:p>
              <a:r>
                <a:rPr lang="en-IN" sz="2000" dirty="0">
                  <a:latin typeface="Open Sauce" panose="020B0604020202020204" charset="0"/>
                </a:rPr>
                <a:t>An AI-powered </a:t>
              </a:r>
              <a:r>
                <a:rPr lang="en-IN" sz="2000" b="1" dirty="0">
                  <a:latin typeface="Open Sauce" panose="020B0604020202020204" charset="0"/>
                </a:rPr>
                <a:t>institutional workforce decision engine</a:t>
              </a:r>
              <a:r>
                <a:rPr lang="en-IN" sz="2000" dirty="0">
                  <a:latin typeface="Open Sauce" panose="020B0604020202020204" charset="0"/>
                </a:rPr>
                <a:t> that transforms:</a:t>
              </a:r>
            </a:p>
            <a:p>
              <a:r>
                <a:rPr lang="en-IN" sz="2000" b="1" dirty="0">
                  <a:latin typeface="Open Sauce" panose="020B0604020202020204" charset="0"/>
                </a:rPr>
                <a:t>Market Demand → Skill Gaps → Training Choices → Optimized Intervention</a:t>
              </a:r>
              <a:endParaRPr lang="en-IN" sz="2000" dirty="0">
                <a:latin typeface="Open Sauce" panose="020B0604020202020204" charset="0"/>
              </a:endParaRPr>
            </a:p>
            <a:p>
              <a:endParaRPr lang="en-IN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3052E0F-DD59-2F92-844F-19CF5D03A0AE}"/>
              </a:ext>
            </a:extLst>
          </p:cNvPr>
          <p:cNvSpPr txBox="1"/>
          <p:nvPr/>
        </p:nvSpPr>
        <p:spPr>
          <a:xfrm>
            <a:off x="2590800" y="9416964"/>
            <a:ext cx="1143000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sz="2800" b="1" i="1" dirty="0"/>
              <a:t>Market Demand → Skill Gaps → Training Choices → Optimized Intervention</a:t>
            </a:r>
            <a:endParaRPr lang="en-IN" sz="28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8AE113-0668-E917-1A44-DDBD1E019B87}"/>
              </a:ext>
            </a:extLst>
          </p:cNvPr>
          <p:cNvSpPr txBox="1"/>
          <p:nvPr/>
        </p:nvSpPr>
        <p:spPr>
          <a:xfrm>
            <a:off x="9052826" y="4740746"/>
            <a:ext cx="861060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Built for:</a:t>
            </a:r>
            <a:r>
              <a:rPr lang="en-IN" sz="2000" dirty="0">
                <a:latin typeface="Open Sauce" panose="020B0604020202020204" charset="0"/>
              </a:rPr>
              <a:t> Universities • Skilling Providers • CSR Workforce Programs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9766D1D-4791-5940-969E-51812C4D7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8694" y="876110"/>
            <a:ext cx="5737412" cy="342484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629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8071" y="266700"/>
            <a:ext cx="9752975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550"/>
              </a:lnSpc>
              <a:spcBef>
                <a:spcPct val="0"/>
              </a:spcBef>
            </a:pP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THE PROBLEM: </a:t>
            </a:r>
            <a:r>
              <a:rPr lang="en-US" sz="7917" b="1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MARKET-SKILLS GAP</a:t>
            </a:r>
            <a:endParaRPr lang="en-US" sz="7917" b="1" u="none" strike="noStrike" spc="-467" dirty="0">
              <a:solidFill>
                <a:srgbClr val="185079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064205" y="2038820"/>
            <a:ext cx="1385652" cy="138565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5BFD1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60562" y="1605930"/>
            <a:ext cx="5293977" cy="2251432"/>
            <a:chOff x="0" y="0"/>
            <a:chExt cx="1803504" cy="7669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3504" cy="766998"/>
            </a:xfrm>
            <a:custGeom>
              <a:avLst/>
              <a:gdLst/>
              <a:ahLst/>
              <a:cxnLst/>
              <a:rect l="l" t="t" r="r" b="b"/>
              <a:pathLst>
                <a:path w="1803504" h="766998">
                  <a:moveTo>
                    <a:pt x="30710" y="0"/>
                  </a:moveTo>
                  <a:lnTo>
                    <a:pt x="1772794" y="0"/>
                  </a:lnTo>
                  <a:cubicBezTo>
                    <a:pt x="1789755" y="0"/>
                    <a:pt x="1803504" y="13750"/>
                    <a:pt x="1803504" y="30710"/>
                  </a:cubicBezTo>
                  <a:lnTo>
                    <a:pt x="1803504" y="736287"/>
                  </a:lnTo>
                  <a:cubicBezTo>
                    <a:pt x="1803504" y="744432"/>
                    <a:pt x="1800269" y="752243"/>
                    <a:pt x="1794509" y="758003"/>
                  </a:cubicBezTo>
                  <a:cubicBezTo>
                    <a:pt x="1788750" y="763762"/>
                    <a:pt x="1780939" y="766998"/>
                    <a:pt x="1772794" y="766998"/>
                  </a:cubicBezTo>
                  <a:lnTo>
                    <a:pt x="30710" y="766998"/>
                  </a:lnTo>
                  <a:cubicBezTo>
                    <a:pt x="13750" y="766998"/>
                    <a:pt x="0" y="753248"/>
                    <a:pt x="0" y="736287"/>
                  </a:cubicBezTo>
                  <a:lnTo>
                    <a:pt x="0" y="30710"/>
                  </a:lnTo>
                  <a:cubicBezTo>
                    <a:pt x="0" y="13750"/>
                    <a:pt x="13750" y="0"/>
                    <a:pt x="30710" y="0"/>
                  </a:cubicBezTo>
                  <a:close/>
                </a:path>
              </a:pathLst>
            </a:custGeom>
            <a:solidFill>
              <a:srgbClr val="95BFD1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803504" cy="766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923427" y="1812169"/>
            <a:ext cx="4355991" cy="2204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b="1" dirty="0">
                <a:latin typeface="Open Sauce" panose="020B0604020202020204" charset="0"/>
              </a:rPr>
              <a:t>01 — 📈 Demand Keeps Changing</a:t>
            </a:r>
          </a:p>
          <a:p>
            <a:endParaRPr lang="en-IN" sz="1600" b="1" dirty="0">
              <a:latin typeface="Open Sauce" panose="020B0604020202020204" charset="0"/>
            </a:endParaRPr>
          </a:p>
          <a:p>
            <a:r>
              <a:rPr lang="en-IN" dirty="0">
                <a:latin typeface="Open Sauce" panose="020B0604020202020204" charset="0"/>
              </a:rPr>
              <a:t>Emerging roles and technologies continuously create new skill requirements, while institutions often rely on historical curriculum and static skill assessments</a:t>
            </a:r>
            <a:r>
              <a:rPr lang="en-IN" dirty="0"/>
              <a:t>.</a:t>
            </a:r>
          </a:p>
          <a:p>
            <a:pPr marL="0" lvl="0" indent="0" algn="l">
              <a:lnSpc>
                <a:spcPts val="2637"/>
              </a:lnSpc>
            </a:pPr>
            <a:endParaRPr lang="en-US" sz="1551" b="1" u="none" spc="-3" dirty="0">
              <a:solidFill>
                <a:srgbClr val="FBF6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103022" y="2297603"/>
            <a:ext cx="1308018" cy="88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0"/>
              </a:lnSpc>
            </a:pPr>
            <a:r>
              <a:rPr lang="en-US" sz="5817" b="1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64205" y="4449060"/>
            <a:ext cx="1385652" cy="138565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4E97BB">
                <a:alpha val="84706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660562" y="4016170"/>
            <a:ext cx="5293977" cy="2251432"/>
            <a:chOff x="0" y="0"/>
            <a:chExt cx="1803504" cy="7669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03504" cy="766998"/>
            </a:xfrm>
            <a:custGeom>
              <a:avLst/>
              <a:gdLst/>
              <a:ahLst/>
              <a:cxnLst/>
              <a:rect l="l" t="t" r="r" b="b"/>
              <a:pathLst>
                <a:path w="1803504" h="766998">
                  <a:moveTo>
                    <a:pt x="30710" y="0"/>
                  </a:moveTo>
                  <a:lnTo>
                    <a:pt x="1772794" y="0"/>
                  </a:lnTo>
                  <a:cubicBezTo>
                    <a:pt x="1789755" y="0"/>
                    <a:pt x="1803504" y="13750"/>
                    <a:pt x="1803504" y="30710"/>
                  </a:cubicBezTo>
                  <a:lnTo>
                    <a:pt x="1803504" y="736287"/>
                  </a:lnTo>
                  <a:cubicBezTo>
                    <a:pt x="1803504" y="744432"/>
                    <a:pt x="1800269" y="752243"/>
                    <a:pt x="1794509" y="758003"/>
                  </a:cubicBezTo>
                  <a:cubicBezTo>
                    <a:pt x="1788750" y="763762"/>
                    <a:pt x="1780939" y="766998"/>
                    <a:pt x="1772794" y="766998"/>
                  </a:cubicBezTo>
                  <a:lnTo>
                    <a:pt x="30710" y="766998"/>
                  </a:lnTo>
                  <a:cubicBezTo>
                    <a:pt x="13750" y="766998"/>
                    <a:pt x="0" y="753248"/>
                    <a:pt x="0" y="736287"/>
                  </a:cubicBezTo>
                  <a:lnTo>
                    <a:pt x="0" y="30710"/>
                  </a:lnTo>
                  <a:cubicBezTo>
                    <a:pt x="0" y="13750"/>
                    <a:pt x="13750" y="0"/>
                    <a:pt x="30710" y="0"/>
                  </a:cubicBezTo>
                  <a:close/>
                </a:path>
              </a:pathLst>
            </a:custGeom>
            <a:solidFill>
              <a:srgbClr val="4E97BB">
                <a:alpha val="84706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803504" cy="766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082675" y="4700223"/>
            <a:ext cx="1308018" cy="88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0"/>
              </a:lnSpc>
            </a:pPr>
            <a:r>
              <a:rPr lang="en-US" sz="5817" b="1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02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64205" y="6862528"/>
            <a:ext cx="1385652" cy="138565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660562" y="6429638"/>
            <a:ext cx="5293977" cy="2251432"/>
            <a:chOff x="0" y="0"/>
            <a:chExt cx="1803504" cy="76699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03504" cy="766998"/>
            </a:xfrm>
            <a:custGeom>
              <a:avLst/>
              <a:gdLst/>
              <a:ahLst/>
              <a:cxnLst/>
              <a:rect l="l" t="t" r="r" b="b"/>
              <a:pathLst>
                <a:path w="1803504" h="766998">
                  <a:moveTo>
                    <a:pt x="30710" y="0"/>
                  </a:moveTo>
                  <a:lnTo>
                    <a:pt x="1772794" y="0"/>
                  </a:lnTo>
                  <a:cubicBezTo>
                    <a:pt x="1789755" y="0"/>
                    <a:pt x="1803504" y="13750"/>
                    <a:pt x="1803504" y="30710"/>
                  </a:cubicBezTo>
                  <a:lnTo>
                    <a:pt x="1803504" y="736287"/>
                  </a:lnTo>
                  <a:cubicBezTo>
                    <a:pt x="1803504" y="744432"/>
                    <a:pt x="1800269" y="752243"/>
                    <a:pt x="1794509" y="758003"/>
                  </a:cubicBezTo>
                  <a:cubicBezTo>
                    <a:pt x="1788750" y="763762"/>
                    <a:pt x="1780939" y="766998"/>
                    <a:pt x="1772794" y="766998"/>
                  </a:cubicBezTo>
                  <a:lnTo>
                    <a:pt x="30710" y="766998"/>
                  </a:lnTo>
                  <a:cubicBezTo>
                    <a:pt x="13750" y="766998"/>
                    <a:pt x="0" y="753248"/>
                    <a:pt x="0" y="736287"/>
                  </a:cubicBezTo>
                  <a:lnTo>
                    <a:pt x="0" y="30710"/>
                  </a:lnTo>
                  <a:cubicBezTo>
                    <a:pt x="0" y="13750"/>
                    <a:pt x="13750" y="0"/>
                    <a:pt x="30710" y="0"/>
                  </a:cubicBezTo>
                  <a:close/>
                </a:path>
              </a:pathLst>
            </a:custGeom>
            <a:solidFill>
              <a:srgbClr val="3885AB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803504" cy="766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923427" y="6632734"/>
            <a:ext cx="4874433" cy="2142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03 — 💰 Training Capacity Is Limited</a:t>
            </a:r>
          </a:p>
          <a:p>
            <a:endParaRPr lang="en-IN" sz="2000" b="1" dirty="0">
              <a:latin typeface="Open Sauce" panose="020B0604020202020204" charset="0"/>
            </a:endParaRPr>
          </a:p>
          <a:p>
            <a:r>
              <a:rPr lang="en-IN" sz="2000" dirty="0">
                <a:latin typeface="Open Sauce" panose="020B0604020202020204" charset="0"/>
              </a:rPr>
              <a:t>Budgets, seats, trainers and prerequisites impose hard constraints. Institutions cannot simply teach everything</a:t>
            </a:r>
          </a:p>
          <a:p>
            <a:pPr marL="0" lvl="0" indent="0" algn="l">
              <a:lnSpc>
                <a:spcPts val="2637"/>
              </a:lnSpc>
            </a:pPr>
            <a:endParaRPr lang="en-US" sz="1551" b="1" u="none" spc="-3" dirty="0">
              <a:solidFill>
                <a:srgbClr val="FBF6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103022" y="7121312"/>
            <a:ext cx="1308018" cy="88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80"/>
              </a:lnSpc>
            </a:pPr>
            <a:r>
              <a:rPr lang="en-US" sz="5817" b="1">
                <a:solidFill>
                  <a:srgbClr val="FBF6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12EE70-2118-8537-017B-4EB3C33F8088}"/>
              </a:ext>
            </a:extLst>
          </p:cNvPr>
          <p:cNvSpPr txBox="1"/>
          <p:nvPr/>
        </p:nvSpPr>
        <p:spPr>
          <a:xfrm>
            <a:off x="11905866" y="4084096"/>
            <a:ext cx="4858134" cy="2251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02 — 🎓 Skills ≠ Market Demand</a:t>
            </a:r>
          </a:p>
          <a:p>
            <a:endParaRPr lang="en-IN" sz="2000" b="1" dirty="0">
              <a:latin typeface="Open Sauce" panose="020B0604020202020204" charset="0"/>
            </a:endParaRPr>
          </a:p>
          <a:p>
            <a:r>
              <a:rPr lang="en-IN" sz="2000" dirty="0">
                <a:latin typeface="Open Sauce" panose="020B0604020202020204" charset="0"/>
              </a:rPr>
              <a:t>Institutions may know what students currently learn, but lack a systematic way to determine </a:t>
            </a:r>
            <a:r>
              <a:rPr lang="en-IN" sz="2000" b="1" dirty="0">
                <a:latin typeface="Open Sauce" panose="020B0604020202020204" charset="0"/>
              </a:rPr>
              <a:t>which skills are becoming critical in the job market</a:t>
            </a:r>
            <a:r>
              <a:rPr lang="en-IN" sz="2000" dirty="0">
                <a:latin typeface="Open Sauce" panose="020B0604020202020204" charset="0"/>
              </a:rPr>
              <a:t>.</a:t>
            </a:r>
          </a:p>
          <a:p>
            <a:endParaRPr lang="en-IN" dirty="0"/>
          </a:p>
        </p:txBody>
      </p:sp>
      <p:pic>
        <p:nvPicPr>
          <p:cNvPr id="32" name="Picture 31" descr="AI generated image">
            <a:extLst>
              <a:ext uri="{FF2B5EF4-FFF2-40B4-BE49-F238E27FC236}">
                <a16:creationId xmlns:a16="http://schemas.microsoft.com/office/drawing/2014/main" id="{28E6B1F1-4E2C-5A54-4967-CE26B0243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72432"/>
            <a:ext cx="9147175" cy="5105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3D3B615-5269-0789-DD89-88D84ABEA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8599" y="6634621"/>
            <a:ext cx="4343400" cy="38753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75836" y="757775"/>
            <a:ext cx="16736327" cy="8771450"/>
            <a:chOff x="0" y="0"/>
            <a:chExt cx="4407921" cy="23101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07921" cy="2310176"/>
            </a:xfrm>
            <a:custGeom>
              <a:avLst/>
              <a:gdLst/>
              <a:ahLst/>
              <a:cxnLst/>
              <a:rect l="l" t="t" r="r" b="b"/>
              <a:pathLst>
                <a:path w="4407921" h="2310176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H="1" flipV="1">
            <a:off x="10886510" y="757775"/>
            <a:ext cx="0" cy="8771450"/>
          </a:xfrm>
          <a:prstGeom prst="line">
            <a:avLst/>
          </a:prstGeom>
          <a:ln w="38100" cap="flat">
            <a:solidFill>
              <a:srgbClr val="18507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795312" y="1980339"/>
            <a:ext cx="182395" cy="18239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319040" y="759987"/>
            <a:ext cx="4742733" cy="69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7"/>
              </a:lnSpc>
            </a:pPr>
            <a:r>
              <a:rPr lang="en-US" sz="4000" b="1" spc="130" dirty="0"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77600" y="1430610"/>
            <a:ext cx="5180019" cy="21544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 Demand Intelligence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Collect job, occupation and emerging-skill signals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Extract and normalize skills using </a:t>
            </a:r>
            <a:r>
              <a:rPr lang="en-IN" sz="2000" b="1" dirty="0">
                <a:latin typeface="Open Sauce" panose="020B0604020202020204" charset="0"/>
              </a:rPr>
              <a:t>ESCO / O*NET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Forecast upcoming skill-demand trends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77600" y="3674869"/>
            <a:ext cx="4742733" cy="67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7"/>
              </a:lnSpc>
            </a:pPr>
            <a:r>
              <a:rPr lang="en-US" sz="4000" b="1" spc="130" dirty="0"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10236" y="6372978"/>
            <a:ext cx="4665182" cy="6993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7"/>
              </a:lnSpc>
            </a:pPr>
            <a:r>
              <a:rPr lang="en-US" sz="4800" b="1" spc="130" dirty="0"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  <a:endParaRPr lang="en-US" sz="4846" b="1" spc="130" dirty="0"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0795312" y="4433365"/>
            <a:ext cx="182395" cy="18239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795312" y="6889942"/>
            <a:ext cx="182395" cy="18239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46850" y="757775"/>
            <a:ext cx="8379661" cy="2106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550"/>
              </a:lnSpc>
              <a:spcBef>
                <a:spcPct val="0"/>
              </a:spcBef>
            </a:pPr>
            <a:r>
              <a:rPr lang="en-US" sz="6000" b="1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OU</a:t>
            </a:r>
            <a:r>
              <a:rPr lang="en-US" sz="6000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 SOLUTION : D2S BHARAT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5607" y="2887901"/>
            <a:ext cx="8555095" cy="632596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/>
              <a:t> Traditional systems:</a:t>
            </a:r>
            <a:br>
              <a:rPr lang="en-IN" sz="2800" dirty="0"/>
            </a:br>
            <a:r>
              <a:rPr lang="en-IN" sz="2800" dirty="0"/>
              <a:t> </a:t>
            </a:r>
            <a:r>
              <a:rPr lang="en-IN" sz="2800" i="1" dirty="0"/>
              <a:t>“What skills are missing?”</a:t>
            </a:r>
          </a:p>
          <a:p>
            <a:endParaRPr lang="en-IN" sz="2800" dirty="0"/>
          </a:p>
          <a:p>
            <a:r>
              <a:rPr lang="en-IN" sz="2800" b="1" dirty="0"/>
              <a:t> D2S Bharat:</a:t>
            </a:r>
            <a:br>
              <a:rPr lang="en-IN" sz="2800" dirty="0"/>
            </a:br>
            <a:r>
              <a:rPr lang="en-IN" sz="2800" dirty="0"/>
              <a:t> </a:t>
            </a:r>
            <a:r>
              <a:rPr lang="en-IN" sz="2800" b="1" dirty="0"/>
              <a:t>“Given what the market needs and what we can afford,    what should we teach next?”</a:t>
            </a:r>
          </a:p>
          <a:p>
            <a:endParaRPr lang="en-IN" sz="2800" dirty="0"/>
          </a:p>
          <a:p>
            <a:r>
              <a:rPr lang="en-IN" sz="2800" b="1" dirty="0"/>
              <a:t> Technology Stack</a:t>
            </a:r>
          </a:p>
          <a:p>
            <a:r>
              <a:rPr lang="en-IN" sz="2800" b="1" dirty="0"/>
              <a:t>React / Next.js • </a:t>
            </a:r>
            <a:r>
              <a:rPr lang="en-IN" sz="2800" b="1" dirty="0" err="1"/>
              <a:t>FastAPI</a:t>
            </a:r>
            <a:r>
              <a:rPr lang="en-IN" sz="2800" b="1" dirty="0"/>
              <a:t> • PostgreSQL + </a:t>
            </a:r>
            <a:r>
              <a:rPr lang="en-IN" sz="2800" b="1" dirty="0" err="1"/>
              <a:t>pgvector</a:t>
            </a:r>
            <a:r>
              <a:rPr lang="en-IN" sz="2800" b="1" dirty="0"/>
              <a:t> • Sentence Transformers • scikit-learn • </a:t>
            </a:r>
            <a:r>
              <a:rPr lang="en-IN" sz="2800" b="1" dirty="0" err="1"/>
              <a:t>statsmodels</a:t>
            </a:r>
            <a:r>
              <a:rPr lang="en-IN" sz="2800" b="1" dirty="0"/>
              <a:t> • OR-Tools • LLM API</a:t>
            </a:r>
          </a:p>
          <a:p>
            <a:endParaRPr lang="en-IN" sz="2800" dirty="0"/>
          </a:p>
          <a:p>
            <a:r>
              <a:rPr lang="en-IN" sz="2800" dirty="0"/>
              <a:t>The </a:t>
            </a:r>
            <a:r>
              <a:rPr lang="en-IN" sz="2800" b="1" dirty="0"/>
              <a:t>optimization engine makes the decision</a:t>
            </a:r>
            <a:r>
              <a:rPr lang="en-IN" sz="2800" dirty="0"/>
              <a:t>; the LLM is used only to explain and summarize the resulting plan.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18507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003CFA-EA24-4EAF-83A1-F490D70DA2CA}"/>
              </a:ext>
            </a:extLst>
          </p:cNvPr>
          <p:cNvSpPr txBox="1"/>
          <p:nvPr/>
        </p:nvSpPr>
        <p:spPr>
          <a:xfrm>
            <a:off x="11319040" y="4348442"/>
            <a:ext cx="5822108" cy="19389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 Skill-Gap Intelligence</a:t>
            </a:r>
          </a:p>
          <a:p>
            <a:pPr lvl="0"/>
            <a:r>
              <a:rPr lang="en-IN" sz="2000" dirty="0">
                <a:latin typeface="Open Sauce" panose="020B0604020202020204" charset="0"/>
              </a:rPr>
              <a:t>Compare </a:t>
            </a:r>
            <a:r>
              <a:rPr lang="en-IN" sz="2000" b="1" dirty="0">
                <a:latin typeface="Open Sauce" panose="020B0604020202020204" charset="0"/>
              </a:rPr>
              <a:t>market demand</a:t>
            </a:r>
            <a:r>
              <a:rPr lang="en-IN" sz="2000" dirty="0">
                <a:latin typeface="Open Sauce" panose="020B0604020202020204" charset="0"/>
              </a:rPr>
              <a:t> with the skills currently available within a student cohort </a:t>
            </a:r>
          </a:p>
          <a:p>
            <a:pPr lvl="0"/>
            <a:r>
              <a:rPr lang="en-IN" sz="2000" dirty="0">
                <a:latin typeface="Open Sauce" panose="020B0604020202020204" charset="0"/>
              </a:rPr>
              <a:t>Identify and prioritize </a:t>
            </a:r>
            <a:r>
              <a:rPr lang="en-IN" sz="2000" b="1" dirty="0">
                <a:latin typeface="Open Sauce" panose="020B0604020202020204" charset="0"/>
              </a:rPr>
              <a:t>high-impact skill gaps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lvl="0"/>
            <a:r>
              <a:rPr lang="en-IN" sz="2000" dirty="0">
                <a:latin typeface="Open Sauce" panose="020B0604020202020204" charset="0"/>
              </a:rPr>
              <a:t>Link gaps to relevant occupations and courses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76D2A-7943-7469-F635-C0BDB418DBCF}"/>
              </a:ext>
            </a:extLst>
          </p:cNvPr>
          <p:cNvSpPr txBox="1"/>
          <p:nvPr/>
        </p:nvSpPr>
        <p:spPr>
          <a:xfrm>
            <a:off x="11319040" y="7055237"/>
            <a:ext cx="5927282" cy="224676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 Constraint-Aware Optimization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Select the training interventions with the highest potential impact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Optimize under real-world constraints: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Budget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Training seats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Prerequisites</a:t>
            </a:r>
            <a:endParaRPr lang="en-IN" sz="2000" dirty="0">
              <a:latin typeface="Open Sauce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-224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>
            <a:off x="-886757" y="4390981"/>
            <a:ext cx="20061513" cy="0"/>
          </a:xfrm>
          <a:prstGeom prst="line">
            <a:avLst/>
          </a:prstGeom>
          <a:ln w="28575" cap="flat">
            <a:solidFill>
              <a:srgbClr val="18507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2001429" y="4211205"/>
            <a:ext cx="359553" cy="359553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01429" y="4932080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18080" y="4932080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09422" y="4932080"/>
            <a:ext cx="21973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1" dirty="0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99778" y="5773455"/>
            <a:ext cx="3075734" cy="2314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799" b="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01429" y="5773455"/>
            <a:ext cx="3075734" cy="2314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799" b="1">
                <a:solidFill>
                  <a:srgbClr val="18507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818080" y="4211205"/>
            <a:ext cx="359553" cy="35955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93826" y="4211205"/>
            <a:ext cx="359553" cy="35955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409422" y="4211205"/>
            <a:ext cx="359553" cy="35955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276600" y="244537"/>
            <a:ext cx="11333159" cy="111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50"/>
              </a:lnSpc>
              <a:spcBef>
                <a:spcPct val="0"/>
              </a:spcBef>
            </a:pP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Technology Stack</a:t>
            </a:r>
          </a:p>
        </p:txBody>
      </p:sp>
      <p:sp>
        <p:nvSpPr>
          <p:cNvPr id="25" name="Freeform 25"/>
          <p:cNvSpPr/>
          <p:nvPr/>
        </p:nvSpPr>
        <p:spPr>
          <a:xfrm>
            <a:off x="-8153289" y="493643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573001" y="-7726307"/>
            <a:ext cx="14621990" cy="12658387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C34F63B-0DC3-A80A-925A-13D4CC816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54348"/>
            <a:ext cx="16535400" cy="80382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81" t="-19076" r="-3000" b="-114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71600" y="121710"/>
            <a:ext cx="15544800" cy="1004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550"/>
              </a:lnSpc>
              <a:spcBef>
                <a:spcPct val="0"/>
              </a:spcBef>
            </a:pPr>
            <a:r>
              <a:rPr lang="en-US" sz="6000" b="1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TECHNICAL FEASIBILITY AND SCALABILITY</a:t>
            </a:r>
            <a:endParaRPr lang="en-US" sz="6000" b="1" u="none" strike="noStrike" spc="-467" dirty="0">
              <a:solidFill>
                <a:srgbClr val="185079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597260" y="1669519"/>
            <a:ext cx="4413890" cy="3601726"/>
            <a:chOff x="0" y="0"/>
            <a:chExt cx="935533" cy="800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5533" cy="800333"/>
            </a:xfrm>
            <a:custGeom>
              <a:avLst/>
              <a:gdLst/>
              <a:ahLst/>
              <a:cxnLst/>
              <a:rect l="l" t="t" r="r" b="b"/>
              <a:pathLst>
                <a:path w="935533" h="8003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752831"/>
                  </a:lnTo>
                  <a:cubicBezTo>
                    <a:pt x="935533" y="765429"/>
                    <a:pt x="930528" y="777512"/>
                    <a:pt x="921620" y="786420"/>
                  </a:cubicBezTo>
                  <a:cubicBezTo>
                    <a:pt x="912711" y="795329"/>
                    <a:pt x="900629" y="800333"/>
                    <a:pt x="888030" y="800333"/>
                  </a:cubicBezTo>
                  <a:lnTo>
                    <a:pt x="47502" y="800333"/>
                  </a:lnTo>
                  <a:cubicBezTo>
                    <a:pt x="34904" y="800333"/>
                    <a:pt x="22822" y="795329"/>
                    <a:pt x="13913" y="786420"/>
                  </a:cubicBezTo>
                  <a:cubicBezTo>
                    <a:pt x="5005" y="777512"/>
                    <a:pt x="0" y="765429"/>
                    <a:pt x="0" y="752831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BBD6E1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935533" cy="800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81557" y="1677994"/>
            <a:ext cx="4039534" cy="3601725"/>
            <a:chOff x="0" y="0"/>
            <a:chExt cx="935533" cy="800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5533" cy="800333"/>
            </a:xfrm>
            <a:custGeom>
              <a:avLst/>
              <a:gdLst/>
              <a:ahLst/>
              <a:cxnLst/>
              <a:rect l="l" t="t" r="r" b="b"/>
              <a:pathLst>
                <a:path w="935533" h="800333">
                  <a:moveTo>
                    <a:pt x="47502" y="0"/>
                  </a:moveTo>
                  <a:lnTo>
                    <a:pt x="888030" y="0"/>
                  </a:lnTo>
                  <a:cubicBezTo>
                    <a:pt x="914265" y="0"/>
                    <a:pt x="935533" y="21268"/>
                    <a:pt x="935533" y="47502"/>
                  </a:cubicBezTo>
                  <a:lnTo>
                    <a:pt x="935533" y="752831"/>
                  </a:lnTo>
                  <a:cubicBezTo>
                    <a:pt x="935533" y="765429"/>
                    <a:pt x="930528" y="777512"/>
                    <a:pt x="921620" y="786420"/>
                  </a:cubicBezTo>
                  <a:cubicBezTo>
                    <a:pt x="912711" y="795329"/>
                    <a:pt x="900629" y="800333"/>
                    <a:pt x="888030" y="800333"/>
                  </a:cubicBezTo>
                  <a:lnTo>
                    <a:pt x="47502" y="800333"/>
                  </a:lnTo>
                  <a:cubicBezTo>
                    <a:pt x="34904" y="800333"/>
                    <a:pt x="22822" y="795329"/>
                    <a:pt x="13913" y="786420"/>
                  </a:cubicBezTo>
                  <a:cubicBezTo>
                    <a:pt x="5005" y="777512"/>
                    <a:pt x="0" y="765429"/>
                    <a:pt x="0" y="752831"/>
                  </a:cubicBezTo>
                  <a:lnTo>
                    <a:pt x="0" y="47502"/>
                  </a:lnTo>
                  <a:cubicBezTo>
                    <a:pt x="0" y="34904"/>
                    <a:pt x="5005" y="22822"/>
                    <a:pt x="13913" y="13913"/>
                  </a:cubicBezTo>
                  <a:cubicBezTo>
                    <a:pt x="22822" y="5005"/>
                    <a:pt x="34904" y="0"/>
                    <a:pt x="47502" y="0"/>
                  </a:cubicBezTo>
                  <a:close/>
                </a:path>
              </a:pathLst>
            </a:custGeom>
            <a:solidFill>
              <a:srgbClr val="95BFD1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935533" cy="800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709982" y="1853233"/>
            <a:ext cx="3924944" cy="3334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Data &amp; Intelligence</a:t>
            </a:r>
            <a:endParaRPr lang="en-IN" sz="2000" dirty="0">
              <a:latin typeface="Open Sauce" panose="020B060402020202020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Open Sauce" panose="020B0604020202020204" charset="0"/>
              </a:rPr>
              <a:t>PostgreSQL + </a:t>
            </a:r>
            <a:r>
              <a:rPr lang="en-IN" b="1" dirty="0" err="1">
                <a:latin typeface="Open Sauce" panose="020B0604020202020204" charset="0"/>
              </a:rPr>
              <a:t>pgvector</a:t>
            </a:r>
            <a:r>
              <a:rPr lang="en-IN" dirty="0">
                <a:latin typeface="Open Sauce" panose="020B0604020202020204" charset="0"/>
              </a:rPr>
              <a:t> for structured data and semantic skill matching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Open Sauce" panose="020B0604020202020204" charset="0"/>
              </a:rPr>
              <a:t>Sentence Transformers</a:t>
            </a:r>
            <a:r>
              <a:rPr lang="en-IN" dirty="0">
                <a:latin typeface="Open Sauce" panose="020B0604020202020204" charset="0"/>
              </a:rPr>
              <a:t> for skill extraction and normalization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Open Sauce" panose="020B0604020202020204" charset="0"/>
              </a:rPr>
              <a:t>scikit-learn + </a:t>
            </a:r>
            <a:r>
              <a:rPr lang="en-IN" b="1" dirty="0" err="1">
                <a:latin typeface="Open Sauce" panose="020B0604020202020204" charset="0"/>
              </a:rPr>
              <a:t>statsmodels</a:t>
            </a:r>
            <a:r>
              <a:rPr lang="en-IN" dirty="0">
                <a:latin typeface="Open Sauce" panose="020B0604020202020204" charset="0"/>
              </a:rPr>
              <a:t> for demand forecasting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Open Sauce" panose="020B0604020202020204" charset="0"/>
              </a:rPr>
              <a:t>ESCO + O*NET + Indian labour-market signals</a:t>
            </a:r>
            <a:r>
              <a:rPr lang="en-IN" dirty="0">
                <a:latin typeface="Open Sauce" panose="020B0604020202020204" charset="0"/>
              </a:rPr>
              <a:t> for standardized skill intelligence</a:t>
            </a:r>
          </a:p>
          <a:p>
            <a:pPr algn="ctr">
              <a:lnSpc>
                <a:spcPts val="2152"/>
              </a:lnSpc>
              <a:spcBef>
                <a:spcPct val="0"/>
              </a:spcBef>
            </a:pPr>
            <a:endParaRPr lang="en-US" sz="1537" dirty="0">
              <a:solidFill>
                <a:srgbClr val="185079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991600" y="1039567"/>
            <a:ext cx="328699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23" dirty="0"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42914" y="2005990"/>
            <a:ext cx="3716819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Decision Engine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Google OR-Tools</a:t>
            </a:r>
            <a:r>
              <a:rPr lang="en-IN" sz="2000" dirty="0">
                <a:latin typeface="Open Sauce" panose="020B0604020202020204" charset="0"/>
              </a:rPr>
              <a:t> for constrained optimization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Maximizes skill-gap closure while respecting: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Budget limits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Training-seat capacity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Course prerequisites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Institutional constraints</a:t>
            </a:r>
            <a:r>
              <a:rPr lang="en-US" sz="1537" dirty="0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88941" y="1018715"/>
            <a:ext cx="328699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23" dirty="0"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3EA9A5C-D7C5-5224-DC8C-98D7747AE905}"/>
              </a:ext>
            </a:extLst>
          </p:cNvPr>
          <p:cNvGrpSpPr/>
          <p:nvPr/>
        </p:nvGrpSpPr>
        <p:grpSpPr>
          <a:xfrm>
            <a:off x="10874522" y="5371642"/>
            <a:ext cx="4413890" cy="4286568"/>
            <a:chOff x="8597260" y="5639427"/>
            <a:chExt cx="4413890" cy="4286568"/>
          </a:xfrm>
        </p:grpSpPr>
        <p:grpSp>
          <p:nvGrpSpPr>
            <p:cNvPr id="11" name="Group 11"/>
            <p:cNvGrpSpPr/>
            <p:nvPr/>
          </p:nvGrpSpPr>
          <p:grpSpPr>
            <a:xfrm>
              <a:off x="8597260" y="6340157"/>
              <a:ext cx="4413890" cy="3585837"/>
              <a:chOff x="0" y="0"/>
              <a:chExt cx="935533" cy="80778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7456"/>
                <a:ext cx="935533" cy="800333"/>
              </a:xfrm>
              <a:custGeom>
                <a:avLst/>
                <a:gdLst/>
                <a:ahLst/>
                <a:cxnLst/>
                <a:rect l="l" t="t" r="r" b="b"/>
                <a:pathLst>
                  <a:path w="935533" h="800333">
                    <a:moveTo>
                      <a:pt x="47502" y="0"/>
                    </a:moveTo>
                    <a:lnTo>
                      <a:pt x="888030" y="0"/>
                    </a:lnTo>
                    <a:cubicBezTo>
                      <a:pt x="914265" y="0"/>
                      <a:pt x="935533" y="21268"/>
                      <a:pt x="935533" y="47502"/>
                    </a:cubicBezTo>
                    <a:lnTo>
                      <a:pt x="935533" y="752831"/>
                    </a:lnTo>
                    <a:cubicBezTo>
                      <a:pt x="935533" y="765429"/>
                      <a:pt x="930528" y="777512"/>
                      <a:pt x="921620" y="786420"/>
                    </a:cubicBezTo>
                    <a:cubicBezTo>
                      <a:pt x="912711" y="795329"/>
                      <a:pt x="900629" y="800333"/>
                      <a:pt x="888030" y="800333"/>
                    </a:cubicBezTo>
                    <a:lnTo>
                      <a:pt x="47502" y="800333"/>
                    </a:lnTo>
                    <a:cubicBezTo>
                      <a:pt x="34904" y="800333"/>
                      <a:pt x="22822" y="795329"/>
                      <a:pt x="13913" y="786420"/>
                    </a:cubicBezTo>
                    <a:cubicBezTo>
                      <a:pt x="5005" y="777512"/>
                      <a:pt x="0" y="765429"/>
                      <a:pt x="0" y="752831"/>
                    </a:cubicBezTo>
                    <a:lnTo>
                      <a:pt x="0" y="47502"/>
                    </a:lnTo>
                    <a:cubicBezTo>
                      <a:pt x="0" y="34904"/>
                      <a:pt x="5005" y="22822"/>
                      <a:pt x="13913" y="13913"/>
                    </a:cubicBezTo>
                    <a:cubicBezTo>
                      <a:pt x="22822" y="5005"/>
                      <a:pt x="34904" y="0"/>
                      <a:pt x="47502" y="0"/>
                    </a:cubicBezTo>
                    <a:close/>
                  </a:path>
                </a:pathLst>
              </a:custGeom>
              <a:solidFill>
                <a:srgbClr val="6BA1B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935533" cy="8003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7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8807363" y="6591300"/>
              <a:ext cx="3745390" cy="33346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IN" sz="2000" b="1" dirty="0">
                  <a:latin typeface="Open Sauce" panose="020B0604020202020204" charset="0"/>
                </a:rPr>
                <a:t>Application Layer</a:t>
              </a:r>
              <a:endParaRPr lang="en-IN" sz="2000" dirty="0">
                <a:latin typeface="Open Sauce" panose="020B0604020202020204" charset="0"/>
              </a:endParaRP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b="1" dirty="0">
                  <a:latin typeface="Open Sauce" panose="020B0604020202020204" charset="0"/>
                </a:rPr>
                <a:t>React / Next.js</a:t>
              </a:r>
              <a:r>
                <a:rPr lang="en-IN" sz="2000" dirty="0">
                  <a:latin typeface="Open Sauce" panose="020B0604020202020204" charset="0"/>
                </a:rPr>
                <a:t> responsive institutional dashboard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b="1" dirty="0" err="1">
                  <a:latin typeface="Open Sauce" panose="020B0604020202020204" charset="0"/>
                </a:rPr>
                <a:t>FastAPI</a:t>
              </a:r>
              <a:r>
                <a:rPr lang="en-IN" sz="2000" dirty="0">
                  <a:latin typeface="Open Sauce" panose="020B0604020202020204" charset="0"/>
                </a:rPr>
                <a:t> backend connecting analytics, optimization and UI </a:t>
              </a:r>
            </a:p>
            <a:p>
              <a:pPr marL="342900" lvl="0" indent="-342900">
                <a:buFont typeface="Arial" panose="020B0604020202020204" pitchFamily="34" charset="0"/>
                <a:buChar char="•"/>
              </a:pPr>
              <a:r>
                <a:rPr lang="en-IN" sz="2000" dirty="0">
                  <a:latin typeface="Open Sauce" panose="020B0604020202020204" charset="0"/>
                </a:rPr>
                <a:t>Structured APIs enable integration with existing university/skill-development systems </a:t>
              </a:r>
            </a:p>
            <a:p>
              <a:pPr algn="ctr">
                <a:lnSpc>
                  <a:spcPts val="2152"/>
                </a:lnSpc>
                <a:spcBef>
                  <a:spcPct val="0"/>
                </a:spcBef>
              </a:pPr>
              <a:r>
                <a:rPr lang="en-US" sz="1537" dirty="0">
                  <a:solidFill>
                    <a:srgbClr val="FBF6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,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66819" y="5639427"/>
              <a:ext cx="3286993" cy="679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b="1" spc="23" dirty="0">
                  <a:latin typeface="Open Sauce Bold"/>
                  <a:ea typeface="Open Sauce Bold"/>
                  <a:cs typeface="Open Sauce Bold"/>
                  <a:sym typeface="Open Sauce Bold"/>
                </a:rPr>
                <a:t>03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B7CE023-7789-7426-6D36-4D70A79C606A}"/>
              </a:ext>
            </a:extLst>
          </p:cNvPr>
          <p:cNvSpPr txBox="1"/>
          <p:nvPr/>
        </p:nvSpPr>
        <p:spPr>
          <a:xfrm>
            <a:off x="359682" y="1379292"/>
            <a:ext cx="7343158" cy="71404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Designed to Scale from One Institution to a National Workforce Intelligence Platform</a:t>
            </a:r>
          </a:p>
          <a:p>
            <a:endParaRPr lang="en-IN" sz="2000" b="1" dirty="0">
              <a:latin typeface="Open Sauce" panose="020B0604020202020204" charset="0"/>
            </a:endParaRPr>
          </a:p>
          <a:p>
            <a:pPr marL="457200" indent="-457200">
              <a:buAutoNum type="arabicPeriod"/>
            </a:pPr>
            <a:r>
              <a:rPr lang="en-IN" sz="2000" b="1" dirty="0">
                <a:latin typeface="Open Sauce" panose="020B0604020202020204" charset="0"/>
              </a:rPr>
              <a:t>Institutional Scale</a:t>
            </a:r>
          </a:p>
          <a:p>
            <a:pPr marL="457200" indent="-457200">
              <a:buAutoNum type="arabicPeriod"/>
            </a:pP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Start with one institution and expand across departments, cohorts and courses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Reuse the same AI and optimization engine across programs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2. Regional Scale</a:t>
            </a:r>
          </a:p>
          <a:p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Integrate labour-market signals across cities, states and regions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Enable region-specific skill and training planning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3. Ecosystem Scale</a:t>
            </a:r>
          </a:p>
          <a:p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Connect universities, skilling providers and CSR programs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Continuously expand skills, occupations, courses and datasets </a:t>
            </a:r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E78D1C-1C33-8117-0F99-1153F0C88790}"/>
              </a:ext>
            </a:extLst>
          </p:cNvPr>
          <p:cNvSpPr txBox="1"/>
          <p:nvPr/>
        </p:nvSpPr>
        <p:spPr>
          <a:xfrm>
            <a:off x="218982" y="8943664"/>
            <a:ext cx="89916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IN" b="1" i="1" dirty="0">
                <a:latin typeface="Open Sauce" panose="020B0604020202020204" charset="0"/>
              </a:rPr>
              <a:t>Vision:</a:t>
            </a:r>
            <a:br>
              <a:rPr lang="en-IN" b="1" i="1" dirty="0">
                <a:latin typeface="Open Sauce" panose="020B0604020202020204" charset="0"/>
              </a:rPr>
            </a:br>
            <a:r>
              <a:rPr lang="en-IN" b="1" i="1" dirty="0">
                <a:latin typeface="Open Sauce" panose="020B0604020202020204" charset="0"/>
              </a:rPr>
              <a:t>Institution → Region → Multi-Institution Ecosystem → National Workforce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859" y="3361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2489143" y="-33617"/>
            <a:ext cx="13309713" cy="1218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IMPACT &amp; BUISNESS MODEL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93941" y="1790700"/>
            <a:ext cx="8458200" cy="737240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 Turning Better Training Decisions into Measurable Workforce Impact</a:t>
            </a:r>
          </a:p>
          <a:p>
            <a:endParaRPr lang="en-IN" sz="2000" b="1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1. Institutional Impact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Higher alignment between curriculum and market demand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Better utilization of training budgets and available seats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Faster identification of emerging skill gaps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Evidence-backed curriculum and program planning</a:t>
            </a:r>
          </a:p>
          <a:p>
            <a:pPr lvl="0"/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r>
              <a:rPr lang="en-IN" sz="2000" b="1" dirty="0">
                <a:latin typeface="Open Sauce" panose="020B0604020202020204" charset="0"/>
              </a:rPr>
              <a:t>2. Learner &amp; Workforce Impact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More relevant, market-ready skills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Improved access to high-demand training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Reduced mismatch between education and employment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Stronger regional workforce readiness</a:t>
            </a:r>
          </a:p>
          <a:p>
            <a:pPr lvl="0"/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r>
              <a:rPr lang="en-IN" sz="2000" b="1" dirty="0">
                <a:latin typeface="Open Sauce" panose="020B0604020202020204" charset="0"/>
              </a:rPr>
              <a:t>3. Revenue Model</a:t>
            </a:r>
            <a:endParaRPr lang="en-IN" sz="2000" dirty="0">
              <a:latin typeface="Open Sauce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SaaS for Institutions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Annual subscription based on institution size and usage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Enterprise / Government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Customized workforce intelligence deployments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Regional and large-scale planning contracts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Analytics &amp; Decision Support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Premium forecasting, scenario analysis and benchmarking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18507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8153289" y="493643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275201" y="-772630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17895A-8DD0-8B6E-A9A6-3C93A5DE5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859" y="2212576"/>
            <a:ext cx="9210464" cy="514072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52600" y="216943"/>
            <a:ext cx="14493783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550"/>
              </a:lnSpc>
              <a:spcBef>
                <a:spcPct val="0"/>
              </a:spcBef>
            </a:pP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INNOVA</a:t>
            </a:r>
            <a:r>
              <a:rPr lang="en-US" sz="7917" b="1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TION AND UNIQUENESS</a:t>
            </a:r>
            <a:endParaRPr lang="en-US" sz="7917" b="1" u="none" strike="noStrike" spc="-467" dirty="0">
              <a:solidFill>
                <a:srgbClr val="185079"/>
              </a:solidFill>
              <a:latin typeface="Open Sauce Semi-Bold"/>
              <a:ea typeface="Open Sauce Semi-Bold"/>
              <a:cs typeface="Open Sauce Semi-Bold"/>
              <a:sym typeface="Open Sauce Semi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04800" y="1466548"/>
            <a:ext cx="9144000" cy="860350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Beyond Skill-Gap Detection: From Insight to Intervention</a:t>
            </a:r>
          </a:p>
          <a:p>
            <a:r>
              <a:rPr lang="en-IN" sz="2000" b="1" dirty="0">
                <a:latin typeface="Open Sauce" panose="020B0604020202020204" charset="0"/>
              </a:rPr>
              <a:t>1. Decision, Not Just Diagnosis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Traditional platforms identify </a:t>
            </a:r>
            <a:r>
              <a:rPr lang="en-IN" sz="2000" b="1" dirty="0">
                <a:latin typeface="Open Sauce" panose="020B0604020202020204" charset="0"/>
              </a:rPr>
              <a:t>missing or emerging skills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D2S Bharat determines </a:t>
            </a:r>
            <a:r>
              <a:rPr lang="en-IN" sz="2000" b="1" dirty="0">
                <a:latin typeface="Open Sauce" panose="020B0604020202020204" charset="0"/>
              </a:rPr>
              <a:t>what institutions should teach next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2. Constraint-Aware AI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Recommendations consider </a:t>
            </a:r>
            <a:r>
              <a:rPr lang="en-IN" sz="2000" b="1" dirty="0">
                <a:latin typeface="Open Sauce" panose="020B0604020202020204" charset="0"/>
              </a:rPr>
              <a:t>budget, seats, prerequisites and capacity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Produces solutions that are </a:t>
            </a:r>
            <a:r>
              <a:rPr lang="en-IN" sz="2000" b="1" dirty="0">
                <a:latin typeface="Open Sauce" panose="020B0604020202020204" charset="0"/>
              </a:rPr>
              <a:t>feasible, not theoretical</a:t>
            </a:r>
          </a:p>
          <a:p>
            <a:pPr lvl="0"/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r>
              <a:rPr lang="en-IN" sz="2000" b="1" dirty="0">
                <a:latin typeface="Open Sauce" panose="020B0604020202020204" charset="0"/>
              </a:rPr>
              <a:t>3. Demand-Weighted Skill Intelligence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Combines labour-market demand with </a:t>
            </a:r>
            <a:r>
              <a:rPr lang="en-IN" sz="2000" b="1" dirty="0">
                <a:latin typeface="Open Sauce" panose="020B0604020202020204" charset="0"/>
              </a:rPr>
              <a:t>cohort-level skill gaps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Prioritizes skills based on their potential market impact</a:t>
            </a:r>
          </a:p>
          <a:p>
            <a:pPr lvl="0"/>
            <a:endParaRPr lang="en-IN" sz="2000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4. Optimization Before Generative AI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OR-Tools</a:t>
            </a:r>
            <a:r>
              <a:rPr lang="en-IN" sz="2000" dirty="0">
                <a:latin typeface="Open Sauce" panose="020B0604020202020204" charset="0"/>
              </a:rPr>
              <a:t> mathematically selects the intervention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LLM is used only to </a:t>
            </a:r>
            <a:r>
              <a:rPr lang="en-IN" sz="2000" b="1" dirty="0">
                <a:latin typeface="Open Sauce" panose="020B0604020202020204" charset="0"/>
              </a:rPr>
              <a:t>explain and communicate</a:t>
            </a:r>
            <a:r>
              <a:rPr lang="en-IN" sz="2000" dirty="0">
                <a:latin typeface="Open Sauce" panose="020B0604020202020204" charset="0"/>
              </a:rPr>
              <a:t> the optimized result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Reduces dependence on subjective AI-generated recommendations </a:t>
            </a:r>
          </a:p>
          <a:p>
            <a:pPr lvl="0"/>
            <a:endParaRPr lang="en-IN" sz="2000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5. What-If Decision Simulator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Institutions can change </a:t>
            </a:r>
            <a:r>
              <a:rPr lang="en-IN" sz="2000" b="1" dirty="0">
                <a:latin typeface="Open Sauce" panose="020B0604020202020204" charset="0"/>
              </a:rPr>
              <a:t>budget, seats or course choices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Instantly compare how different scenarios affect skill-gap closure and market coverage </a:t>
            </a:r>
          </a:p>
          <a:p>
            <a:pPr lvl="0"/>
            <a:endParaRPr lang="en-IN" sz="2000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6. Evidence-Backed &amp; Auditable</a:t>
            </a:r>
            <a:endParaRPr lang="en-IN" sz="2000" dirty="0">
              <a:latin typeface="Open Sauce" panose="020B0604020202020204" charset="0"/>
            </a:endParaRPr>
          </a:p>
          <a:p>
            <a:pPr lvl="0"/>
            <a:r>
              <a:rPr lang="en-IN" sz="2000" b="1" i="1" dirty="0">
                <a:latin typeface="Open Sauce" panose="020B0604020202020204" charset="0"/>
              </a:rPr>
              <a:t>Every recommendation can be traced to:</a:t>
            </a:r>
            <a:br>
              <a:rPr lang="en-IN" sz="2000" b="1" i="1" dirty="0">
                <a:latin typeface="Open Sauce" panose="020B0604020202020204" charset="0"/>
              </a:rPr>
            </a:br>
            <a:r>
              <a:rPr lang="en-IN" sz="2000" b="1" i="1" dirty="0">
                <a:latin typeface="Open Sauce" panose="020B0604020202020204" charset="0"/>
              </a:rPr>
              <a:t>Market Signal → Skill Gap → Constraint → Optimization → Intervention</a:t>
            </a: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endParaRPr lang="en-US" sz="1800" b="1" u="none" strike="noStrike" dirty="0">
              <a:solidFill>
                <a:srgbClr val="18507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8153289" y="-809206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275201" y="4688737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1120FC-B0D5-8256-572E-3DE52CB64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450" y="2552700"/>
            <a:ext cx="8464550" cy="47244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FD8C-E17A-16C3-DEAA-496F5D0A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BEB7C1-0DC7-B62D-D806-ABF92252A9FD}"/>
              </a:ext>
            </a:extLst>
          </p:cNvPr>
          <p:cNvSpPr/>
          <p:nvPr/>
        </p:nvSpPr>
        <p:spPr>
          <a:xfrm>
            <a:off x="-72255" y="-140293"/>
            <a:ext cx="18432509" cy="10409814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B4D366D-390E-FE18-EE12-A041F6024DD2}"/>
              </a:ext>
            </a:extLst>
          </p:cNvPr>
          <p:cNvSpPr txBox="1"/>
          <p:nvPr/>
        </p:nvSpPr>
        <p:spPr>
          <a:xfrm>
            <a:off x="1524000" y="85866"/>
            <a:ext cx="14493783" cy="1021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8550"/>
              </a:lnSpc>
              <a:spcBef>
                <a:spcPct val="0"/>
              </a:spcBef>
            </a:pPr>
            <a:r>
              <a:rPr lang="en-US" sz="6600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COST AND VIABILITY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E74207D-C84C-6C2F-170A-B909D3CF5D5F}"/>
              </a:ext>
            </a:extLst>
          </p:cNvPr>
          <p:cNvSpPr txBox="1"/>
          <p:nvPr/>
        </p:nvSpPr>
        <p:spPr>
          <a:xfrm>
            <a:off x="0" y="1331921"/>
            <a:ext cx="10214209" cy="89255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Low-Cost Technology. Scalable Business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MVP Infrastructure Cost</a:t>
            </a:r>
            <a:endParaRPr lang="en-IN" sz="2000" dirty="0">
              <a:latin typeface="Open Sauce" panose="020B060402020202020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Cloud + database: </a:t>
            </a:r>
            <a:r>
              <a:rPr lang="en-IN" sz="2000" b="1" dirty="0">
                <a:latin typeface="Open Sauce" panose="020B0604020202020204" charset="0"/>
              </a:rPr>
              <a:t>₹2K–₹5K/month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Embeddings / semantic search: </a:t>
            </a:r>
            <a:r>
              <a:rPr lang="en-IN" sz="2000" b="1" dirty="0">
                <a:latin typeface="Open Sauce" panose="020B0604020202020204" charset="0"/>
              </a:rPr>
              <a:t>₹1K–₹3K/month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LLM explanation layer: </a:t>
            </a:r>
            <a:r>
              <a:rPr lang="en-IN" sz="2000" b="1" dirty="0">
                <a:latin typeface="Open Sauce" panose="020B0604020202020204" charset="0"/>
              </a:rPr>
              <a:t>₹1K–₹5K/month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Core ML + optimization: </a:t>
            </a:r>
            <a:r>
              <a:rPr lang="en-IN" sz="2000" b="1" dirty="0">
                <a:latin typeface="Open Sauce" panose="020B0604020202020204" charset="0"/>
              </a:rPr>
              <a:t>Open-source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Estimated MVP: ₹4K–₹16K/month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Why It Is Economically Viable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No expensive foundation-model training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Open-source ML and optimization technologies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LLM usage limited to the final explanation layer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Modular architecture keeps infrastructure costs controllable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Costs scale with actual institutional usage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Commercialization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MVP → Institutional Pilot → SaaS Deployment → Multi-Institution Platform → Regional / National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Open Sauce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Revenue Opportunities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Institutional SaaS subscriptions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Enterprise &amp; Government deployments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Premium analytics &amp; forecasting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Custom integrations and workforce intelligence</a:t>
            </a:r>
            <a:r>
              <a:rPr lang="en-IN" sz="2000" dirty="0">
                <a:latin typeface="Open Sauce" panose="020B0604020202020204" charset="0"/>
              </a:rPr>
              <a:t> </a:t>
            </a:r>
          </a:p>
          <a:p>
            <a:pPr lvl="0"/>
            <a:endParaRPr lang="en-IN" sz="2000" dirty="0">
              <a:latin typeface="Open Sauce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Long-Term Vision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D2S Bharat becomes the decision-intelligence layer connecting labour-market demand, education, and workforce planning.</a:t>
            </a:r>
            <a:endParaRPr lang="en-IN" sz="2000" dirty="0">
              <a:latin typeface="Open Sauce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“Build once. Scale across institutions, regions and workforce ecosystems.”</a:t>
            </a:r>
            <a:endParaRPr lang="en-IN" sz="2000" dirty="0">
              <a:latin typeface="Open Sauce" panose="020B0604020202020204" charset="0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FDBBACC-C9A3-ABC5-C93D-F3E6CC000C75}"/>
              </a:ext>
            </a:extLst>
          </p:cNvPr>
          <p:cNvSpPr/>
          <p:nvPr/>
        </p:nvSpPr>
        <p:spPr>
          <a:xfrm>
            <a:off x="-9296400" y="-8572500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D230E6-651F-D14B-E96E-45EAA8E0240D}"/>
              </a:ext>
            </a:extLst>
          </p:cNvPr>
          <p:cNvSpPr/>
          <p:nvPr/>
        </p:nvSpPr>
        <p:spPr>
          <a:xfrm>
            <a:off x="10668000" y="4353640"/>
            <a:ext cx="15919790" cy="13575239"/>
          </a:xfrm>
          <a:custGeom>
            <a:avLst/>
            <a:gdLst/>
            <a:ahLst/>
            <a:cxnLst/>
            <a:rect l="l" t="t" r="r" b="b"/>
            <a:pathLst>
              <a:path w="15919790" h="13575239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D86AA2-9E5E-443C-3F20-6E2537866E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23" t="12536" r="18023" b="21838"/>
          <a:stretch>
            <a:fillRect/>
          </a:stretch>
        </p:blipFill>
        <p:spPr>
          <a:xfrm>
            <a:off x="10561898" y="2476500"/>
            <a:ext cx="7450667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87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75836" y="495300"/>
            <a:ext cx="16736327" cy="8771450"/>
            <a:chOff x="0" y="0"/>
            <a:chExt cx="4407921" cy="23101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07921" cy="2310176"/>
            </a:xfrm>
            <a:custGeom>
              <a:avLst/>
              <a:gdLst/>
              <a:ahLst/>
              <a:cxnLst/>
              <a:rect l="l" t="t" r="r" b="b"/>
              <a:pathLst>
                <a:path w="4407921" h="2310176">
                  <a:moveTo>
                    <a:pt x="16190" y="0"/>
                  </a:moveTo>
                  <a:lnTo>
                    <a:pt x="4391731" y="0"/>
                  </a:lnTo>
                  <a:cubicBezTo>
                    <a:pt x="4400672" y="0"/>
                    <a:pt x="4407921" y="7249"/>
                    <a:pt x="4407921" y="16190"/>
                  </a:cubicBezTo>
                  <a:lnTo>
                    <a:pt x="4407921" y="2293986"/>
                  </a:lnTo>
                  <a:cubicBezTo>
                    <a:pt x="4407921" y="2302927"/>
                    <a:pt x="4400672" y="2310176"/>
                    <a:pt x="4391731" y="2310176"/>
                  </a:cubicBezTo>
                  <a:lnTo>
                    <a:pt x="16190" y="2310176"/>
                  </a:lnTo>
                  <a:cubicBezTo>
                    <a:pt x="7249" y="2310176"/>
                    <a:pt x="0" y="2302927"/>
                    <a:pt x="0" y="2293986"/>
                  </a:cubicBezTo>
                  <a:lnTo>
                    <a:pt x="0" y="16190"/>
                  </a:lnTo>
                  <a:cubicBezTo>
                    <a:pt x="0" y="7249"/>
                    <a:pt x="7249" y="0"/>
                    <a:pt x="16190" y="0"/>
                  </a:cubicBezTo>
                  <a:close/>
                </a:path>
              </a:pathLst>
            </a:custGeom>
            <a:solidFill>
              <a:srgbClr val="BBD6E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07921" cy="2348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76800" y="1181100"/>
            <a:ext cx="8871123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550"/>
              </a:lnSpc>
              <a:spcBef>
                <a:spcPct val="0"/>
              </a:spcBef>
            </a:pPr>
            <a:r>
              <a:rPr lang="en-US" sz="7917" b="1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</a:t>
            </a:r>
            <a:r>
              <a:rPr lang="en-US" sz="7917" b="1" u="none" strike="noStrike" spc="-467" dirty="0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0600" y="2705100"/>
            <a:ext cx="11125200" cy="57150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IN" sz="2000" b="1" dirty="0">
                <a:latin typeface="Open Sauce" panose="020B0604020202020204" charset="0"/>
              </a:rPr>
              <a:t> D2S Bharat</a:t>
            </a:r>
          </a:p>
          <a:p>
            <a:r>
              <a:rPr lang="en-IN" sz="2000" b="1" dirty="0">
                <a:latin typeface="Open Sauce" panose="020B0604020202020204" charset="0"/>
              </a:rPr>
              <a:t> From Labour-Market Demand to Institutional Action</a:t>
            </a:r>
          </a:p>
          <a:p>
            <a:endParaRPr lang="en-IN" sz="2000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 What We Solve</a:t>
            </a:r>
          </a:p>
          <a:p>
            <a:r>
              <a:rPr lang="en-IN" sz="2000" dirty="0">
                <a:latin typeface="Open Sauce" panose="020B0604020202020204" charset="0"/>
              </a:rPr>
              <a:t> Institutions often know </a:t>
            </a:r>
            <a:r>
              <a:rPr lang="en-IN" sz="2000" b="1" dirty="0">
                <a:latin typeface="Open Sauce" panose="020B0604020202020204" charset="0"/>
              </a:rPr>
              <a:t>what skills the market needs</a:t>
            </a:r>
            <a:r>
              <a:rPr lang="en-IN" sz="2000" dirty="0">
                <a:latin typeface="Open Sauce" panose="020B0604020202020204" charset="0"/>
              </a:rPr>
              <a:t>, but struggle to determine </a:t>
            </a:r>
            <a:r>
              <a:rPr lang="en-IN" sz="2000" b="1" dirty="0">
                <a:latin typeface="Open Sauce" panose="020B0604020202020204" charset="0"/>
              </a:rPr>
              <a:t>what      they should teach next within real-world constraints</a:t>
            </a:r>
            <a:r>
              <a:rPr lang="en-IN" sz="2000" dirty="0">
                <a:latin typeface="Open Sauce" panose="020B0604020202020204" charset="0"/>
              </a:rPr>
              <a:t>.</a:t>
            </a:r>
          </a:p>
          <a:p>
            <a:endParaRPr lang="en-IN" sz="2000" dirty="0">
              <a:latin typeface="Open Sauce" panose="020B0604020202020204" charset="0"/>
            </a:endParaRPr>
          </a:p>
          <a:p>
            <a:r>
              <a:rPr lang="en-IN" sz="2000" b="1" dirty="0">
                <a:latin typeface="Open Sauce" panose="020B0604020202020204" charset="0"/>
              </a:rPr>
              <a:t>What D2S Bharat Delivers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Demand Intelligence</a:t>
            </a:r>
            <a:r>
              <a:rPr lang="en-IN" sz="2000" dirty="0">
                <a:latin typeface="Open Sauce" panose="020B0604020202020204" charset="0"/>
              </a:rPr>
              <a:t> — Identify emerging and high-value skills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Skill-Gap Intelligence</a:t>
            </a:r>
            <a:r>
              <a:rPr lang="en-IN" sz="2000" dirty="0">
                <a:latin typeface="Open Sauce" panose="020B0604020202020204" charset="0"/>
              </a:rPr>
              <a:t> — Measure market demand against cohort capabilities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Constraint-Aware Optimization</a:t>
            </a:r>
            <a:r>
              <a:rPr lang="en-IN" sz="2000" dirty="0">
                <a:latin typeface="Open Sauce" panose="020B0604020202020204" charset="0"/>
              </a:rPr>
              <a:t> — Select feasible interventions within budget, capacity and prerequisites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Open Sauce" panose="020B0604020202020204" charset="0"/>
              </a:rPr>
              <a:t>Explainable Decisions</a:t>
            </a:r>
            <a:r>
              <a:rPr lang="en-IN" sz="2000" dirty="0">
                <a:latin typeface="Open Sauce" panose="020B0604020202020204" charset="0"/>
              </a:rPr>
              <a:t> — Turn optimized results into actionable institutional plans</a:t>
            </a:r>
          </a:p>
          <a:p>
            <a:pPr lvl="0"/>
            <a:r>
              <a:rPr lang="en-IN" sz="2000" i="1" dirty="0">
                <a:latin typeface="Open Sauce" panose="020B0604020202020204" charset="0"/>
              </a:rPr>
              <a:t> </a:t>
            </a:r>
          </a:p>
          <a:p>
            <a:r>
              <a:rPr lang="en-IN" sz="2000" b="1" i="1" dirty="0">
                <a:latin typeface="Open Sauce" panose="020B0604020202020204" charset="0"/>
              </a:rPr>
              <a:t>Why It Matters</a:t>
            </a:r>
          </a:p>
          <a:p>
            <a:r>
              <a:rPr lang="en-IN" sz="2000" b="1" i="1" dirty="0">
                <a:latin typeface="Open Sauce" panose="020B0604020202020204" charset="0"/>
              </a:rPr>
              <a:t>Better Data → Better Training Decisions → Better Skill Alignment → Stronger Workforce Readiness</a:t>
            </a:r>
            <a:endParaRPr lang="en-IN" sz="2000" i="1" dirty="0">
              <a:latin typeface="Open Sauce" panose="020B0604020202020204" charset="0"/>
            </a:endParaRPr>
          </a:p>
          <a:p>
            <a:pPr marL="0" lvl="0" indent="0" algn="ctr">
              <a:lnSpc>
                <a:spcPts val="2380"/>
              </a:lnSpc>
              <a:spcBef>
                <a:spcPct val="0"/>
              </a:spcBef>
            </a:pPr>
            <a:endParaRPr lang="en-US" sz="1700" b="1" u="none" strike="noStrike" dirty="0">
              <a:solidFill>
                <a:srgbClr val="185079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418A33-55A0-C1DD-2C12-F3992F0C7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4493" y="3238500"/>
            <a:ext cx="4828712" cy="36215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193386"/>
            <a:ext cx="10155052" cy="196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0"/>
              </a:lnSpc>
            </a:pPr>
            <a:r>
              <a:rPr lang="en-US" sz="14000" spc="-826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5608035" y="-4316939"/>
            <a:ext cx="22188662" cy="18920878"/>
          </a:xfrm>
          <a:custGeom>
            <a:avLst/>
            <a:gdLst/>
            <a:ahLst/>
            <a:cxnLst/>
            <a:rect l="l" t="t" r="r" b="b"/>
            <a:pathLst>
              <a:path w="22188662" h="18920878">
                <a:moveTo>
                  <a:pt x="0" y="0"/>
                </a:moveTo>
                <a:lnTo>
                  <a:pt x="22188662" y="0"/>
                </a:lnTo>
                <a:lnTo>
                  <a:pt x="22188662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5001928"/>
            <a:ext cx="13616443" cy="2253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279"/>
              </a:lnSpc>
              <a:spcBef>
                <a:spcPct val="0"/>
              </a:spcBef>
            </a:pPr>
            <a:r>
              <a:rPr lang="en-US" sz="15999" b="1" spc="-943">
                <a:solidFill>
                  <a:srgbClr val="18507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VERY MUCH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1129</Words>
  <Application>Microsoft Office PowerPoint</Application>
  <PresentationFormat>Custom</PresentationFormat>
  <Paragraphs>194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Sauce Bold</vt:lpstr>
      <vt:lpstr>Arial</vt:lpstr>
      <vt:lpstr>Open Sauce Semi-Bold</vt:lpstr>
      <vt:lpstr>Calibri</vt:lpstr>
      <vt:lpstr>Open Sauce Medium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Business Proposal Presentation</dc:title>
  <dc:creator>surface</dc:creator>
  <cp:lastModifiedBy>Amrita Raman</cp:lastModifiedBy>
  <cp:revision>4</cp:revision>
  <dcterms:created xsi:type="dcterms:W3CDTF">2006-08-16T00:00:00Z</dcterms:created>
  <dcterms:modified xsi:type="dcterms:W3CDTF">2026-10-07T04:27:59Z</dcterms:modified>
  <dc:identifier>DAHWNtFkDYc</dc:identifier>
</cp:coreProperties>
</file>